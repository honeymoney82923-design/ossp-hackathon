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2FE"/>
                </a:solidFill>
              </a:defRPr>
            </a:pPr>
            <a:r>
              <a:t>OSSP HACKATHON 2026 | OPERATING SYSTEMS &amp; SYSTEMS PROGRAMMING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TLB and Page Table Simulator</a:t>
            </a:r>
          </a:p>
          <a:p>
            <a:pPr>
              <a:defRPr sz="1800">
                <a:solidFill>
                  <a:srgbClr val="94A1B2"/>
                </a:solidFill>
              </a:defRPr>
            </a:pPr>
            <a:r>
              <a:t>An Interactive Virtual-to-Physical Address Translation Engine &amp; EAT Performance Analyzer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47548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8404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Complete Project Deliverables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Working System: Zero-install Web GUI + Python CLI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Formal Mathematical Model &amp; Effective Access Time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Multi-policy Cache (LRU/FIFO) &amp; Page Fault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484632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7F5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84048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F5AF0"/>
                </a:solidFill>
              </a:defRPr>
            </a:pPr>
            <a:r>
              <a:t>Key Architectural Capabilities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16-bit Bit-level Address Decomposition (VPN &amp; Offset)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Fully Associative On-Chip TLB Fast-Path (2ns)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Demand Paging &amp; Automated Workload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01. PROBLEM STATEMENT &amp; MOTIVATION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The Memory Wall &amp; Address Translation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754880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470"/>
                </a:solidFill>
              </a:defRPr>
            </a:pPr>
            <a:r>
              <a:t>The Architectural Challenge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Every memory reference requires translation from Virtual Address to Physical Address.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Double-Access Penalty: Without hardware caching, reading data requires 2 DRAM cycles (1 for Page Table + 1 for Data).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Multi-Level Paging: In modern 64-bit systems (4-level page tables), translation latency increases by up to 5x.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Lack of dynamic educational tools to visualize cache hits, misses, and page faults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4846320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B67D"/>
                </a:solidFill>
              </a:defRPr>
            </a:pPr>
            <a:r>
              <a:t>Our Proposed Solution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Interactive Dual-Environment Simulator (Web GUI + Python CLI).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Hardware-Accurate TLB Cache: 2ns fast-path query vs 100ns main memory cycle.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Full Memory State Modeling: TLB table, single-level/hierarchical Page Table, and physical RAM frame pool.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Live Effective Access Time (EAT) Engine: Quantifies performance gain dynamically across varying locality traces.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Configurable Hardware Parameters: Page size (256B to 4KB), TLB capacity, and replacement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02. SYSTEM ARCHITECTURE &amp; DATA STRUCTURES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Bit-Level Address Decomposition &amp; Memory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146304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F2FE"/>
                </a:solidFill>
              </a:defRPr>
            </a:pPr>
            <a:r>
              <a:t>16-Bit Virtual Address Space (64 KB) with Configurable Page Size (e.g., 4096B)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Virtual Address = [ VPN (Bits 15..12) | Offset (Bits 11..0) ]  ➔  VPN = VA &gt;&gt; 12, Offset = VA &amp; 0x0FFF</a:t>
            </a:r>
          </a:p>
          <a:p>
            <a:pPr>
              <a:defRPr sz="1300">
                <a:solidFill>
                  <a:srgbClr val="2CB67D"/>
                </a:solidFill>
              </a:defRPr>
            </a:pPr>
            <a:r>
              <a:t>• Physical Address = (PFN &lt;&lt; 12) | Offset  ➔  Physical Memory Frame concatenated with exact offset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749039"/>
            <a:ext cx="3108960" cy="246888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ACFE"/>
                </a:solidFill>
              </a:defRPr>
            </a:pPr>
            <a:r>
              <a:t>TLB Cache (SRAM)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Capacity: 2 to 16 slots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Fully associative parallel lookup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Fast latency: 2 ns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Fields: Tag(VPN), Frame(PFN), Valid, LRU Age, FIFO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749039"/>
            <a:ext cx="3200400" cy="246888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F5AF0"/>
                </a:solidFill>
              </a:defRPr>
            </a:pPr>
            <a:r>
              <a:t>Page Table (DRAM)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Complete process address mapping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In-memory structure: 100 ns latency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Tracks Valid/Invalid (Present) bits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Reference and Dirty bit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749039"/>
            <a:ext cx="3108960" cy="246888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840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B67D"/>
                </a:solidFill>
              </a:defRPr>
            </a:pPr>
            <a:r>
              <a:t>Physical RAM Frames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8 Physical Frames (32 KB total)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Dynamic demand paging allocation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Frame eviction on memory saturation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Synchronized TLB flush on eviction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03. IMPLEMENTATION &amp; REPLACEMENT ALGORITHMS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4-Stage Translation Pipeline &amp; Cache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182880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The 4-Stage Execution Pipeline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Stage 1: Address Split ➔ Computes VPN = VA &gt;&gt; k and Offset = VA &amp; Mask.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Stage 2: TLB Lookup ➔ Checks all associative slots. If Hit ➔ Form Physical Address in 2 ns.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Stage 3: Page Table Fallback ➔ On TLB Miss (100 ns). If Invalid ➔ Raises Page Fault &amp; triggers Demand Paging (8000 ns).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Stage 4: Cache Update ➔ Inserts resolved mapping into TLB using selected eviction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4754880" cy="219456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062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ACFE"/>
                </a:solidFill>
              </a:defRPr>
            </a:pPr>
            <a:r>
              <a:t>Least Recently Used (LRU)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Tracks monotonically increasing access timestamps.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Evicts entry with lowest last-used timestamp.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Optimal for temporal locality loops and stack accesses.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Highest hit ratios for realistic application workloads.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4846320" cy="219456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F5AF0"/>
                </a:solidFill>
              </a:defRPr>
            </a:pPr>
            <a:r>
              <a:t>First-In, First-Out (FIFO)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Tracks arrival sequence order counter.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Evicts oldest inserted entry regardless of recency.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Very low hardware implementation overhead.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Demonstrates Belady's Anomaly under specific memory access traces.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04. MATHEMATICAL VERIFICATION &amp; FORMULA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Effective Access Time (EAT)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192024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Fundamental Mathematical Formulation</a:t>
            </a:r>
          </a:p>
          <a:p>
            <a:pPr>
              <a:defRPr sz="1500" b="1">
                <a:solidFill>
                  <a:srgbClr val="FFDC64"/>
                </a:solidFill>
              </a:defRPr>
            </a:pPr>
            <a:r>
              <a:t>EAT = H × (t_TLB + t_MEM) + (1 - H) × (t_TLB + 2 × t_MEM) + (P_fault × t_fault)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H: TLB Hit Ratio (Hits / Total References)  |  t_TLB: 2 ns  |  t_MEM: 100 ns  |  t_fault: 8000 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06240"/>
            <a:ext cx="4754880" cy="210312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976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470"/>
                </a:solidFill>
              </a:defRPr>
            </a:pPr>
            <a:r>
              <a:t>Baseline Without TLB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Every reference reads Page Table then Data.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Latency = 2 × 100 ns = 200 ns.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Performance degradation: 100% overhead.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Multi-level paging worsens to 300 - 500 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4846320" cy="210312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B67D"/>
                </a:solidFill>
              </a:defRPr>
            </a:pPr>
            <a:r>
              <a:t>Optimized With 90% TLB Hit Rate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EAT = 0.90 × (102 ns) + 0.10 × (202 ns)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EAT = 91.8 + 20.2 = 112.0 ns.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Speedup: 1.78x faster than baseline (44% latency reduction).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Quantitatively proves the hardware efficiency of TLBs.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05. EXPERIMENTAL BENCHMARKS &amp; RESULTS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Workload Trace Testing &amp; Quantitative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75488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B67D"/>
                </a:solidFill>
              </a:defRPr>
            </a:pPr>
            <a:r>
              <a:t>High Temporal Locality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TLB Hit Ratio: 87.5% Hit Ratio  |  Observed EAT: 114.5 ns EAT</a:t>
            </a:r>
          </a:p>
          <a:p>
            <a:pPr>
              <a:defRPr sz="1100">
                <a:solidFill>
                  <a:srgbClr val="94A1B2"/>
                </a:solidFill>
              </a:defRPr>
            </a:pPr>
            <a:r>
              <a:t>• Context: Tight code loop accessing Pages 1 &amp; 2 repeatedly. High cache reuse.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475488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ACFE"/>
                </a:solidFill>
              </a:defRPr>
            </a:pPr>
            <a:r>
              <a:t>Sequential Memory Scan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TLB Hit Ratio: 75.0% Hit Ratio  |  Observed EAT: 127.0 ns EAT</a:t>
            </a:r>
          </a:p>
          <a:p>
            <a:pPr>
              <a:defRPr sz="1100">
                <a:solidFill>
                  <a:srgbClr val="94A1B2"/>
                </a:solidFill>
              </a:defRPr>
            </a:pPr>
            <a:r>
              <a:t>• Context: Linear array traversal across contiguous pages. Demonstrates spatial locality.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475488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F5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3434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470"/>
                </a:solidFill>
              </a:defRPr>
            </a:pPr>
            <a:r>
              <a:t>Loop Exceeding TLB (Thrashing)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TLB Hit Ratio: 0.0% Hit Ratio  |  Observed EAT: 202.0 ns EAT</a:t>
            </a:r>
          </a:p>
          <a:p>
            <a:pPr>
              <a:defRPr sz="1100">
                <a:solidFill>
                  <a:srgbClr val="94A1B2"/>
                </a:solidFill>
              </a:defRPr>
            </a:pPr>
            <a:r>
              <a:t>• Context: 5-page cycle against 4-slot TLB. Demonstrates catastrophic eviction anomaly.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475488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AA00"/>
                </a:solidFill>
              </a:defRPr>
            </a:pPr>
            <a:r>
              <a:t>Uniform Random Access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TLB Hit Ratio: 12.5% Hit Ratio  |  Observed EAT: 189.5 ns EAT</a:t>
            </a:r>
          </a:p>
          <a:p>
            <a:pPr>
              <a:defRPr sz="1100">
                <a:solidFill>
                  <a:srgbClr val="94A1B2"/>
                </a:solidFill>
              </a:defRPr>
            </a:pPr>
            <a:r>
              <a:t>• Context: Random memory access across 16 pages with high page fault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2FE"/>
                </a:solidFill>
              </a:defRPr>
            </a:pPr>
            <a:r>
              <a:t>06. CONCLUSION, IMPACT &amp; TEAM RESPONSIBILITIES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Educational Value &amp; Systems Engineering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754880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Team Contributions &amp; Roles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Member 1: System Architecture, Address bit decomposition algorithms, and EAT mathematical modeling.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Member 2: TLB cache design, LRU &amp; FIFO replacement engine, Page Table state machine.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Member 3: Interactive visual dashboard, real-time pipeline animations, responsive CSS styling.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Member 4: Benchmark workload traces, Python CLI development, test case validation, and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4846320" cy="4114800"/>
          </a:xfrm>
          <a:prstGeom prst="roundRect">
            <a:avLst/>
          </a:prstGeom>
          <a:solidFill>
            <a:srgbClr val="121826"/>
          </a:solidFill>
          <a:ln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480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B67D"/>
                </a:solidFill>
              </a:defRPr>
            </a:pPr>
            <a:r>
              <a:t>Summary of Impact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Dual Deployment: Works as zero-install web app and terminal CLI.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Bridges Theory &amp; Practice: Brings textbook diagrams to life with interactive address translation.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Extensible Architecture: Supports configurable page sizes, cache associativity, and latency constants.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Production-Grade Deliverables: Code, Documentation, PPT Deck, and Live Test Scenarios.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Ready for Demonstration &amp; Evaluator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